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7" r:id="rId3"/>
    <p:sldId id="278" r:id="rId4"/>
    <p:sldId id="279" r:id="rId5"/>
    <p:sldId id="266" r:id="rId6"/>
    <p:sldId id="267" r:id="rId7"/>
    <p:sldId id="280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12" d="100"/>
          <a:sy n="112" d="100"/>
        </p:scale>
        <p:origin x="4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0E02-4D1A-4E14-9477-50C951CAA4C3}" type="datetimeFigureOut">
              <a:rPr lang="en-US" smtClean="0"/>
              <a:t>7/6/2019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85579-D423-42EA-BE2B-41C0866FF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41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0E02-4D1A-4E14-9477-50C951CAA4C3}" type="datetimeFigureOut">
              <a:rPr lang="en-US" smtClean="0"/>
              <a:t>7/6/2019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85579-D423-42EA-BE2B-41C0866FF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844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0E02-4D1A-4E14-9477-50C951CAA4C3}" type="datetimeFigureOut">
              <a:rPr lang="en-US" smtClean="0"/>
              <a:t>7/6/2019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85579-D423-42EA-BE2B-41C0866FF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5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0E02-4D1A-4E14-9477-50C951CAA4C3}" type="datetimeFigureOut">
              <a:rPr lang="en-US" smtClean="0"/>
              <a:t>7/6/2019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85579-D423-42EA-BE2B-41C0866FF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070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0E02-4D1A-4E14-9477-50C951CAA4C3}" type="datetimeFigureOut">
              <a:rPr lang="en-US" smtClean="0"/>
              <a:t>7/6/2019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85579-D423-42EA-BE2B-41C0866FF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37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0E02-4D1A-4E14-9477-50C951CAA4C3}" type="datetimeFigureOut">
              <a:rPr lang="en-US" smtClean="0"/>
              <a:t>7/6/2019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85579-D423-42EA-BE2B-41C0866FF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7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0E02-4D1A-4E14-9477-50C951CAA4C3}" type="datetimeFigureOut">
              <a:rPr lang="en-US" smtClean="0"/>
              <a:t>7/6/2019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85579-D423-42EA-BE2B-41C0866FF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200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0E02-4D1A-4E14-9477-50C951CAA4C3}" type="datetimeFigureOut">
              <a:rPr lang="en-US" smtClean="0"/>
              <a:t>7/6/2019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85579-D423-42EA-BE2B-41C0866FF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755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0E02-4D1A-4E14-9477-50C951CAA4C3}" type="datetimeFigureOut">
              <a:rPr lang="en-US" smtClean="0"/>
              <a:t>7/6/2019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85579-D423-42EA-BE2B-41C0866FF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056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0E02-4D1A-4E14-9477-50C951CAA4C3}" type="datetimeFigureOut">
              <a:rPr lang="en-US" smtClean="0"/>
              <a:t>7/6/2019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85579-D423-42EA-BE2B-41C0866FF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377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0E02-4D1A-4E14-9477-50C951CAA4C3}" type="datetimeFigureOut">
              <a:rPr lang="en-US" smtClean="0"/>
              <a:t>7/6/2019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85579-D423-42EA-BE2B-41C0866FF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4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E0E02-4D1A-4E14-9477-50C951CAA4C3}" type="datetimeFigureOut">
              <a:rPr lang="en-US" smtClean="0"/>
              <a:t>7/6/2019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C85579-D423-42EA-BE2B-41C0866FF2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201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243455"/>
              </p:ext>
            </p:extLst>
          </p:nvPr>
        </p:nvGraphicFramePr>
        <p:xfrm>
          <a:off x="529839" y="1427154"/>
          <a:ext cx="10961501" cy="3612607"/>
        </p:xfrm>
        <a:graphic>
          <a:graphicData uri="http://schemas.openxmlformats.org/drawingml/2006/table">
            <a:tbl>
              <a:tblPr/>
              <a:tblGrid>
                <a:gridCol w="4759598">
                  <a:extLst>
                    <a:ext uri="{9D8B030D-6E8A-4147-A177-3AD203B41FA5}">
                      <a16:colId xmlns:a16="http://schemas.microsoft.com/office/drawing/2014/main" val="2172506334"/>
                    </a:ext>
                  </a:extLst>
                </a:gridCol>
                <a:gridCol w="1114507">
                  <a:extLst>
                    <a:ext uri="{9D8B030D-6E8A-4147-A177-3AD203B41FA5}">
                      <a16:colId xmlns:a16="http://schemas.microsoft.com/office/drawing/2014/main" val="1664316244"/>
                    </a:ext>
                  </a:extLst>
                </a:gridCol>
                <a:gridCol w="1219402">
                  <a:extLst>
                    <a:ext uri="{9D8B030D-6E8A-4147-A177-3AD203B41FA5}">
                      <a16:colId xmlns:a16="http://schemas.microsoft.com/office/drawing/2014/main" val="117089941"/>
                    </a:ext>
                  </a:extLst>
                </a:gridCol>
                <a:gridCol w="1625868">
                  <a:extLst>
                    <a:ext uri="{9D8B030D-6E8A-4147-A177-3AD203B41FA5}">
                      <a16:colId xmlns:a16="http://schemas.microsoft.com/office/drawing/2014/main" val="4282940616"/>
                    </a:ext>
                  </a:extLst>
                </a:gridCol>
                <a:gridCol w="799823">
                  <a:extLst>
                    <a:ext uri="{9D8B030D-6E8A-4147-A177-3AD203B41FA5}">
                      <a16:colId xmlns:a16="http://schemas.microsoft.com/office/drawing/2014/main" val="3583134354"/>
                    </a:ext>
                  </a:extLst>
                </a:gridCol>
                <a:gridCol w="1442303">
                  <a:extLst>
                    <a:ext uri="{9D8B030D-6E8A-4147-A177-3AD203B41FA5}">
                      <a16:colId xmlns:a16="http://schemas.microsoft.com/office/drawing/2014/main" val="3784169306"/>
                    </a:ext>
                  </a:extLst>
                </a:gridCol>
              </a:tblGrid>
              <a:tr h="40169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Fundo</a:t>
                      </a:r>
                    </a:p>
                  </a:txBody>
                  <a:tcPr marL="9434" marR="9434" marT="943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Correlação </a:t>
                      </a:r>
                      <a:b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constante *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Correlação</a:t>
                      </a:r>
                      <a:b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kalman **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Periodo Observado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obs </a:t>
                      </a:r>
                      <a:b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cotas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 obs </a:t>
                      </a:r>
                      <a:b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alocações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8004607"/>
                  </a:ext>
                </a:extLst>
              </a:tr>
              <a:tr h="21986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FRANKLIN VALOR E LIQUIDEZ FVL FUNDO DE INVESTIMENTO EM AÇÕES</a:t>
                      </a:r>
                    </a:p>
                  </a:txBody>
                  <a:tcPr marL="9434" marR="9434" marT="943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0.3717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0.9990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01-02-2010 - 30-11-2017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1969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354977"/>
                  </a:ext>
                </a:extLst>
              </a:tr>
              <a:tr h="21986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ALASKA BLACK MASTER FUNDO DE INVESTIMENTO EM AÇÕES - BDR NÍVEL  I</a:t>
                      </a:r>
                    </a:p>
                  </a:txBody>
                  <a:tcPr marL="9434" marR="9434" marT="943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0.6094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0.9940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30-09-2010 - 30-11-2017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1802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9622346"/>
                  </a:ext>
                </a:extLst>
              </a:tr>
              <a:tr h="21986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EQUITAS MASTER SELECTION FUNDO DE INVESTIMENTO DE AÇÕES</a:t>
                      </a:r>
                    </a:p>
                  </a:txBody>
                  <a:tcPr marL="9434" marR="9434" marT="943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0.8493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0.9899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02-08-2010 - 30-11-2017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1844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408977"/>
                  </a:ext>
                </a:extLst>
              </a:tr>
              <a:tr h="21986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ATMOS MASTER FUNDO DE INVESTIMENTO DE AÇÕES</a:t>
                      </a:r>
                    </a:p>
                  </a:txBody>
                  <a:tcPr marL="9434" marR="9434" marT="943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0.9022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0.9965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01-02-2010 - 30-11-2017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1969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710160"/>
                  </a:ext>
                </a:extLst>
              </a:tr>
              <a:tr h="21986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GAP AÇÕES FUNDO DE INVESTIMENTO DE AÇÕES</a:t>
                      </a:r>
                    </a:p>
                  </a:txBody>
                  <a:tcPr marL="9434" marR="9434" marT="943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0.9469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0.9978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01-02-2010 - 30-11-2017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1969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615360"/>
                  </a:ext>
                </a:extLst>
              </a:tr>
              <a:tr h="21986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ICATU VANGUARDA DIVIDENDOS FUNDO DE INVESTIMENTO EM AÇÕES</a:t>
                      </a:r>
                    </a:p>
                  </a:txBody>
                  <a:tcPr marL="9434" marR="9434" marT="943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0.9495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0.9983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01-02-2010 - 30-11-2017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1969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3697709"/>
                  </a:ext>
                </a:extLst>
              </a:tr>
              <a:tr h="21986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FUNDO DE INVESTIMENTO EM AÇÕES CAIXA IBOVESPA ATIVO</a:t>
                      </a:r>
                    </a:p>
                  </a:txBody>
                  <a:tcPr marL="9434" marR="9434" marT="943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0.9595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0.9996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01-02-2010 - 30-11-2017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1969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900589"/>
                  </a:ext>
                </a:extLst>
              </a:tr>
              <a:tr h="21986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DAYCOVAL IBOVESPA ATIVO FUNDO DE INVESTIMENTO EM AÇÕES</a:t>
                      </a:r>
                    </a:p>
                  </a:txBody>
                  <a:tcPr marL="9434" marR="9434" marT="943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0.9602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0.9991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30-09-2011 - 30-11-2017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1550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9328324"/>
                  </a:ext>
                </a:extLst>
              </a:tr>
              <a:tr h="21986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BRAM FUNDO DE INVESTIMENTO EM AÇÕES IBOVESPA ATIVO</a:t>
                      </a:r>
                    </a:p>
                  </a:txBody>
                  <a:tcPr marL="9434" marR="9434" marT="943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0.9630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0.9991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01-02-2010 - 30-11-2017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1969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722936"/>
                  </a:ext>
                </a:extLst>
              </a:tr>
              <a:tr h="21986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SANTANDER FI IBOVESPA ATIVO INSTITUCIONAL AÇÕES</a:t>
                      </a:r>
                    </a:p>
                  </a:txBody>
                  <a:tcPr marL="9434" marR="9434" marT="943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0.9713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0.9987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01-02-2010 - 30-11-2017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1969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0934704"/>
                  </a:ext>
                </a:extLst>
              </a:tr>
              <a:tr h="219865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ITAÚ IBOVESPA ATIVO MASTER FUNDO DE INVESTIMENTO EM AÇÕES</a:t>
                      </a:r>
                    </a:p>
                  </a:txBody>
                  <a:tcPr marL="9434" marR="9434" marT="943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0.9759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0.9987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02-12-2013 - 30-11-2017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1004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9434" marR="9434" marT="943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008287"/>
                  </a:ext>
                </a:extLst>
              </a:tr>
              <a:tr h="792397">
                <a:tc gridSpan="6">
                  <a:txBody>
                    <a:bodyPr/>
                    <a:lstStyle/>
                    <a:p>
                      <a:pPr marL="0" indent="0" algn="l" fontAlgn="t">
                        <a:buFont typeface="Arial" panose="020B0604020202020204" pitchFamily="34" charset="0"/>
                        <a:buNone/>
                      </a:pPr>
                      <a:r>
                        <a:rPr lang="pt-B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*Considera </a:t>
                      </a: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que não há </a:t>
                      </a:r>
                      <a:r>
                        <a:rPr lang="pt-B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rebalanceamento</a:t>
                      </a: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do fundo entre uma divulgação de alocações e outra. </a:t>
                      </a:r>
                      <a:r>
                        <a:rPr lang="pt-B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Correlação entre </a:t>
                      </a: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retornos da cota do portfólio </a:t>
                      </a:r>
                      <a:r>
                        <a:rPr lang="pt-B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simulado (produto </a:t>
                      </a: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 peso e o </a:t>
                      </a:r>
                      <a:r>
                        <a:rPr lang="pt-B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retorno diários </a:t>
                      </a: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 cada </a:t>
                      </a:r>
                      <a:r>
                        <a:rPr lang="pt-B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ativo),  </a:t>
                      </a: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 os retornos das cotas diárias.</a:t>
                      </a:r>
                      <a:b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** As posições diárias são estimadas com o Filtro de </a:t>
                      </a:r>
                      <a:r>
                        <a:rPr lang="pt-BR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Kalman</a:t>
                      </a: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pt-B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 então </a:t>
                      </a: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calcula-se a correlação </a:t>
                      </a:r>
                      <a:r>
                        <a:rPr lang="pt-B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entre </a:t>
                      </a: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retorno diário do </a:t>
                      </a:r>
                      <a:r>
                        <a:rPr lang="pt-B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portfólio </a:t>
                      </a: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sintético </a:t>
                      </a:r>
                      <a:r>
                        <a:rPr lang="pt-B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 </a:t>
                      </a: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 retorno </a:t>
                      </a:r>
                      <a:r>
                        <a:rPr lang="pt-BR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fiário</a:t>
                      </a:r>
                      <a:r>
                        <a:rPr lang="pt-B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da </a:t>
                      </a:r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cota </a:t>
                      </a:r>
                      <a:r>
                        <a:rPr lang="pt-B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 </a:t>
                      </a:r>
                      <a:r>
                        <a:rPr lang="pt-BR" sz="8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fundo.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434" marR="9434" marT="9434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237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5236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82" y="518748"/>
            <a:ext cx="11880000" cy="596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604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00" y="619991"/>
            <a:ext cx="11880000" cy="561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935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82" y="518748"/>
            <a:ext cx="11880000" cy="596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213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00" y="447898"/>
            <a:ext cx="11880000" cy="596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643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00" y="619992"/>
            <a:ext cx="11880000" cy="561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130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90" y="1032674"/>
            <a:ext cx="11880000" cy="561801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8550" y="111095"/>
            <a:ext cx="2093653" cy="160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255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00" y="447898"/>
            <a:ext cx="11880000" cy="596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388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00" y="619992"/>
            <a:ext cx="11880000" cy="561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525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00" y="447897"/>
            <a:ext cx="11880000" cy="596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64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00" y="619992"/>
            <a:ext cx="11880000" cy="561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694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00" y="447897"/>
            <a:ext cx="11880000" cy="596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93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00" y="619991"/>
            <a:ext cx="11880000" cy="561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534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00" y="447898"/>
            <a:ext cx="11880000" cy="596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496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00" y="619992"/>
            <a:ext cx="11880000" cy="561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945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00" y="447897"/>
            <a:ext cx="11880000" cy="596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419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00" y="619992"/>
            <a:ext cx="11880000" cy="561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796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00" y="447897"/>
            <a:ext cx="11880000" cy="596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936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00" y="619992"/>
            <a:ext cx="11880000" cy="561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192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49" y="495655"/>
            <a:ext cx="11880000" cy="596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03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00" y="619992"/>
            <a:ext cx="11880000" cy="561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24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220</Words>
  <Application>Microsoft Office PowerPoint</Application>
  <PresentationFormat>Widescreen</PresentationFormat>
  <Paragraphs>73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Statkraft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Fonseca Pablo</dc:creator>
  <cp:lastModifiedBy>Fonseca Pablo</cp:lastModifiedBy>
  <cp:revision>7</cp:revision>
  <dcterms:created xsi:type="dcterms:W3CDTF">2019-07-06T20:57:35Z</dcterms:created>
  <dcterms:modified xsi:type="dcterms:W3CDTF">2019-07-06T21:56:34Z</dcterms:modified>
</cp:coreProperties>
</file>